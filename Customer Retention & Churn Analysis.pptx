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2" r:id="rId4"/>
    <p:sldId id="258" r:id="rId5"/>
    <p:sldId id="264" r:id="rId6"/>
    <p:sldId id="265" r:id="rId7"/>
    <p:sldId id="262" r:id="rId8"/>
    <p:sldId id="261" r:id="rId9"/>
    <p:sldId id="269" r:id="rId10"/>
    <p:sldId id="263" r:id="rId11"/>
    <p:sldId id="259" r:id="rId12"/>
    <p:sldId id="270" r:id="rId13"/>
    <p:sldId id="267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1" autoAdjust="0"/>
    <p:restoredTop sz="90025" autoAdjust="0"/>
  </p:normalViewPr>
  <p:slideViewPr>
    <p:cSldViewPr snapToGrid="0">
      <p:cViewPr varScale="1">
        <p:scale>
          <a:sx n="75" d="100"/>
          <a:sy n="75" d="100"/>
        </p:scale>
        <p:origin x="2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D5682-5998-4E9A-A838-8933D6E6C35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27C25-ED89-4E1E-8B1C-B16BD0FCC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48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>
                <a:effectLst/>
              </a:rPr>
              <a:t>Goal:</a:t>
            </a:r>
            <a:r>
              <a:rPr lang="en-US" dirty="0" smtClean="0">
                <a:effectLst/>
              </a:rPr>
              <a:t> Identify the main drivers of customer churn.</a:t>
            </a:r>
            <a:endParaRPr lang="en-US" dirty="0" smtClean="0"/>
          </a:p>
          <a:p>
            <a:r>
              <a:rPr lang="en-US" b="1" dirty="0" smtClean="0">
                <a:effectLst/>
              </a:rPr>
              <a:t>Aim:</a:t>
            </a:r>
            <a:r>
              <a:rPr lang="en-US" dirty="0" smtClean="0">
                <a:effectLst/>
              </a:rPr>
              <a:t> Provide actionable insights to improve retention strategies.</a:t>
            </a:r>
            <a:endParaRPr lang="en-US" dirty="0" smtClean="0"/>
          </a:p>
          <a:p>
            <a:r>
              <a:rPr lang="en-US" b="1" dirty="0" smtClean="0">
                <a:effectLst/>
              </a:rPr>
              <a:t>Purpose:</a:t>
            </a:r>
            <a:r>
              <a:rPr lang="en-US" dirty="0" smtClean="0">
                <a:effectLst/>
              </a:rPr>
              <a:t> Help the business reduce churn, increase loyalty, and improve profitability.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227C25-ED89-4E1E-8B1C-B16BD0FCCB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763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Customers without long term commitment are more likely to leave</a:t>
            </a:r>
          </a:p>
          <a:p>
            <a:r>
              <a:rPr lang="en-US" dirty="0" smtClean="0"/>
              <a:t>Artificial</a:t>
            </a:r>
            <a:r>
              <a:rPr lang="en-US" baseline="0" dirty="0" smtClean="0"/>
              <a:t> Retention: Termination Fees -&gt; Higher revenue predictability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227C25-ED89-4E1E-8B1C-B16BD0FCCB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91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Price sensitive</a:t>
            </a:r>
            <a:r>
              <a:rPr lang="en-US" baseline="0" dirty="0" smtClean="0"/>
              <a:t> customers leave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227C25-ED89-4E1E-8B1C-B16BD0FCCB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176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New customers churn more</a:t>
            </a:r>
            <a:br>
              <a:rPr lang="en-US" dirty="0" smtClean="0"/>
            </a:br>
            <a:r>
              <a:rPr lang="en-US" dirty="0" smtClean="0"/>
              <a:t>early stage experience is critical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227C25-ED89-4E1E-8B1C-B16BD0FCCB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66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Relatively balanced</a:t>
            </a:r>
          </a:p>
          <a:p>
            <a:r>
              <a:rPr lang="en-US" dirty="0" smtClean="0"/>
              <a:t>Demographic compositions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227C25-ED89-4E1E-8B1C-B16BD0FCCB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20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Tailored services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227C25-ED89-4E1E-8B1C-B16BD0FCCB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11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reduce churn, the business must </a:t>
            </a:r>
            <a:r>
              <a:rPr lang="en-US" b="1" dirty="0" smtClean="0"/>
              <a:t>improve Fiber Optic service reliability, incentivize long-term contracts, and strengthen early engagement programs</a:t>
            </a:r>
            <a:r>
              <a:rPr lang="en-US" dirty="0" smtClean="0"/>
              <a:t>. These actions will directly address the root causes of churn and improve overall customer loyalty.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227C25-ED89-4E1E-8B1C-B16BD0FCCB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41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Retention &amp;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Power bi project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981169" y="5270269"/>
            <a:ext cx="259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SANDRA</a:t>
            </a:r>
            <a:r>
              <a:rPr lang="en-US" sz="2000" dirty="0" smtClean="0">
                <a:solidFill>
                  <a:schemeClr val="bg1"/>
                </a:solidFill>
              </a:rPr>
              <a:t> A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41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aim of this project is to analyze customer data to identify key factors influencing customer churn and provide insights that can help improve customer retention and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1240205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4692650"/>
            <a:ext cx="11029950" cy="566738"/>
          </a:xfrm>
        </p:spPr>
        <p:txBody>
          <a:bodyPr/>
          <a:lstStyle/>
          <a:p>
            <a:r>
              <a:rPr lang="en-US" smtClean="0"/>
              <a:t>Dashboard overview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38" y="728736"/>
            <a:ext cx="9960203" cy="562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099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Month-to-Month contracts have highest </a:t>
            </a:r>
            <a:r>
              <a:rPr lang="en-US" dirty="0" smtClean="0"/>
              <a:t>churn</a:t>
            </a:r>
          </a:p>
          <a:p>
            <a:r>
              <a:rPr lang="en-US" b="1" dirty="0"/>
              <a:t>Insight:</a:t>
            </a:r>
            <a:r>
              <a:rPr lang="en-US" dirty="0"/>
              <a:t> Long-term contracts reduce </a:t>
            </a:r>
            <a:r>
              <a:rPr lang="en-US" dirty="0" smtClean="0"/>
              <a:t>churn</a:t>
            </a:r>
          </a:p>
          <a:p>
            <a:r>
              <a:rPr lang="en-US" b="1" dirty="0" smtClean="0"/>
              <a:t>Suggestion</a:t>
            </a:r>
            <a:r>
              <a:rPr lang="en-US" b="1" dirty="0"/>
              <a:t>:</a:t>
            </a:r>
            <a:r>
              <a:rPr lang="en-US" dirty="0"/>
              <a:t> Promote annual contracts with </a:t>
            </a:r>
            <a:r>
              <a:rPr lang="en-US" dirty="0" smtClean="0"/>
              <a:t>incentives</a:t>
            </a:r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7907" y="2932457"/>
            <a:ext cx="5422900" cy="22241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192" y="2044931"/>
            <a:ext cx="11029615" cy="6982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81193" y="2090891"/>
            <a:ext cx="82635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CHURN BY CONTRACT TYPE 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46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Charges by Churn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75581" y="2227263"/>
            <a:ext cx="3633787" cy="3633787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Churned customers have higher monthly </a:t>
            </a:r>
            <a:r>
              <a:rPr lang="en-US" dirty="0" smtClean="0"/>
              <a:t>charges</a:t>
            </a:r>
          </a:p>
          <a:p>
            <a:r>
              <a:rPr lang="en-US" b="1" dirty="0"/>
              <a:t>Insight:</a:t>
            </a:r>
            <a:r>
              <a:rPr lang="en-US" dirty="0"/>
              <a:t> Price sensitivity is a churn </a:t>
            </a:r>
            <a:r>
              <a:rPr lang="en-US" dirty="0" smtClean="0"/>
              <a:t>driver</a:t>
            </a:r>
          </a:p>
          <a:p>
            <a:r>
              <a:rPr lang="en-US" b="1" dirty="0"/>
              <a:t>Suggestion:</a:t>
            </a:r>
            <a:r>
              <a:rPr lang="en-US" dirty="0"/>
              <a:t> Offer discounts or value-added services to high-charge customers</a:t>
            </a:r>
          </a:p>
        </p:txBody>
      </p:sp>
    </p:spTree>
    <p:extLst>
      <p:ext uri="{BB962C8B-B14F-4D97-AF65-F5344CB8AC3E}">
        <p14:creationId xmlns:p14="http://schemas.microsoft.com/office/powerpoint/2010/main" val="412297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Churn by Tenure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Churn is highest among customers with shorter </a:t>
            </a:r>
            <a:r>
              <a:rPr lang="en-US" dirty="0" smtClean="0"/>
              <a:t>tenure</a:t>
            </a:r>
          </a:p>
          <a:p>
            <a:r>
              <a:rPr lang="en-US" b="1" dirty="0"/>
              <a:t>Insight:</a:t>
            </a:r>
            <a:r>
              <a:rPr lang="en-US" dirty="0"/>
              <a:t> Early-stage retention is </a:t>
            </a:r>
            <a:r>
              <a:rPr lang="en-US" dirty="0" smtClean="0"/>
              <a:t>critical</a:t>
            </a:r>
          </a:p>
          <a:p>
            <a:r>
              <a:rPr lang="en-US" b="1" dirty="0"/>
              <a:t>Suggestion:</a:t>
            </a:r>
            <a:r>
              <a:rPr lang="en-US" dirty="0"/>
              <a:t> Strengthen onboarding and first-year engagement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8075" y="2457146"/>
            <a:ext cx="5422900" cy="317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5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Churn </a:t>
            </a:r>
            <a:r>
              <a:rPr lang="en-US" dirty="0"/>
              <a:t>by Internet Service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767725"/>
            <a:ext cx="5422900" cy="255286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Fiber Optic customers churn most (39.5</a:t>
            </a:r>
            <a:r>
              <a:rPr lang="en-US" dirty="0" smtClean="0"/>
              <a:t>%)</a:t>
            </a:r>
          </a:p>
          <a:p>
            <a:r>
              <a:rPr lang="en-US" b="1" dirty="0"/>
              <a:t>Insight:</a:t>
            </a:r>
            <a:r>
              <a:rPr lang="en-US" dirty="0"/>
              <a:t> Service quality or pricing issues in Fiber </a:t>
            </a:r>
            <a:r>
              <a:rPr lang="en-US" dirty="0" smtClean="0"/>
              <a:t>Optic</a:t>
            </a:r>
          </a:p>
          <a:p>
            <a:r>
              <a:rPr lang="en-US" b="1" dirty="0"/>
              <a:t>Suggestion:</a:t>
            </a:r>
            <a:r>
              <a:rPr lang="en-US" dirty="0"/>
              <a:t> Improve Fiber Optic service reliability or </a:t>
            </a:r>
            <a:r>
              <a:rPr lang="en-US" dirty="0" smtClean="0"/>
              <a:t>pricing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543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Distribution by Gender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Balanced distribution between male and </a:t>
            </a:r>
            <a:r>
              <a:rPr lang="en-US" dirty="0" smtClean="0"/>
              <a:t>female</a:t>
            </a:r>
          </a:p>
          <a:p>
            <a:r>
              <a:rPr lang="en-US" b="1" dirty="0"/>
              <a:t>Insight:</a:t>
            </a:r>
            <a:r>
              <a:rPr lang="en-US" dirty="0"/>
              <a:t> Gender is not a major churn </a:t>
            </a:r>
            <a:r>
              <a:rPr lang="en-US" dirty="0" smtClean="0"/>
              <a:t>driver</a:t>
            </a:r>
          </a:p>
          <a:p>
            <a:r>
              <a:rPr lang="en-US" b="1" dirty="0"/>
              <a:t>Suggestion:</a:t>
            </a:r>
            <a:r>
              <a:rPr lang="en-US" dirty="0"/>
              <a:t> Focus retention strategies on service type, not demographics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8075" y="2345076"/>
            <a:ext cx="5422900" cy="339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93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Distribution by Senior citizen rate%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025" y="2646625"/>
            <a:ext cx="5422900" cy="279506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Senior citizens make up 7.5% of </a:t>
            </a:r>
            <a:r>
              <a:rPr lang="en-US" dirty="0" smtClean="0"/>
              <a:t>customers</a:t>
            </a:r>
          </a:p>
          <a:p>
            <a:r>
              <a:rPr lang="en-US" b="1" dirty="0"/>
              <a:t>Insight:</a:t>
            </a:r>
            <a:r>
              <a:rPr lang="en-US" dirty="0"/>
              <a:t> A small but distinct </a:t>
            </a:r>
            <a:r>
              <a:rPr lang="en-US" dirty="0" smtClean="0"/>
              <a:t>segment</a:t>
            </a:r>
          </a:p>
          <a:p>
            <a:r>
              <a:rPr lang="en-US" b="1" dirty="0"/>
              <a:t>Suggestion:</a:t>
            </a:r>
            <a:r>
              <a:rPr lang="en-US" dirty="0"/>
              <a:t> Tailor communication/support for seniors, but focus retention on broader churn drivers</a:t>
            </a:r>
          </a:p>
        </p:txBody>
      </p:sp>
    </p:spTree>
    <p:extLst>
      <p:ext uri="{BB962C8B-B14F-4D97-AF65-F5344CB8AC3E}">
        <p14:creationId xmlns:p14="http://schemas.microsoft.com/office/powerpoint/2010/main" val="2762449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Decomposition Tree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286320"/>
            <a:ext cx="5422900" cy="3515672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Finding:</a:t>
            </a:r>
            <a:r>
              <a:rPr lang="en-US" dirty="0"/>
              <a:t> 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Fiber </a:t>
            </a:r>
            <a:r>
              <a:rPr lang="en-US" dirty="0"/>
              <a:t>Optic customers consistently show higher churn </a:t>
            </a:r>
            <a:r>
              <a:rPr lang="en-US" dirty="0" smtClean="0"/>
              <a:t>rates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Service + Month-to-Month </a:t>
            </a:r>
            <a:r>
              <a:rPr lang="en-US" dirty="0"/>
              <a:t>+ low tenure drives </a:t>
            </a:r>
            <a:r>
              <a:rPr lang="en-US" dirty="0" smtClean="0"/>
              <a:t>churn</a:t>
            </a:r>
          </a:p>
          <a:p>
            <a:r>
              <a:rPr lang="en-US" b="1" dirty="0"/>
              <a:t>Insight:</a:t>
            </a:r>
            <a:r>
              <a:rPr lang="en-US" dirty="0"/>
              <a:t> Service </a:t>
            </a:r>
            <a:r>
              <a:rPr lang="en-US" dirty="0" smtClean="0"/>
              <a:t>type, Contract </a:t>
            </a:r>
            <a:r>
              <a:rPr lang="en-US" dirty="0"/>
              <a:t>type and tenure are key churn </a:t>
            </a:r>
            <a:r>
              <a:rPr lang="en-US" dirty="0" smtClean="0"/>
              <a:t>predictors</a:t>
            </a:r>
          </a:p>
          <a:p>
            <a:r>
              <a:rPr lang="en-US" b="1" dirty="0"/>
              <a:t>Suggestion:</a:t>
            </a:r>
            <a:r>
              <a:rPr lang="en-US" dirty="0"/>
              <a:t> 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Conduct customer feedback surveys specifically for Fiber Optic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Target </a:t>
            </a:r>
            <a:r>
              <a:rPr lang="en-US" dirty="0"/>
              <a:t>short-tenure, month-to-month customers with retention offers</a:t>
            </a:r>
          </a:p>
        </p:txBody>
      </p:sp>
    </p:spTree>
    <p:extLst>
      <p:ext uri="{BB962C8B-B14F-4D97-AF65-F5344CB8AC3E}">
        <p14:creationId xmlns:p14="http://schemas.microsoft.com/office/powerpoint/2010/main" val="1125323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Churn is critically high (88.3%), driven by </a:t>
            </a:r>
            <a:r>
              <a:rPr lang="en-US" b="1" dirty="0"/>
              <a:t>Month-to-Month contracts</a:t>
            </a:r>
            <a:r>
              <a:rPr lang="en-US" dirty="0"/>
              <a:t> and </a:t>
            </a:r>
            <a:r>
              <a:rPr lang="en-US" b="1" dirty="0"/>
              <a:t>Fiber Optic service </a:t>
            </a:r>
            <a:r>
              <a:rPr lang="en-US" b="1" dirty="0" smtClean="0"/>
              <a:t>customers</a:t>
            </a:r>
          </a:p>
          <a:p>
            <a:r>
              <a:rPr lang="en-US" b="1" dirty="0"/>
              <a:t>Price sensitivity</a:t>
            </a:r>
            <a:r>
              <a:rPr lang="en-US" dirty="0"/>
              <a:t> is evident — churned customers pay higher monthly </a:t>
            </a:r>
            <a:r>
              <a:rPr lang="en-US" dirty="0" smtClean="0"/>
              <a:t>charges</a:t>
            </a:r>
          </a:p>
          <a:p>
            <a:r>
              <a:rPr lang="en-US" b="1" dirty="0"/>
              <a:t>Tenure matters</a:t>
            </a:r>
            <a:r>
              <a:rPr lang="en-US" dirty="0"/>
              <a:t> — customers with shorter tenure churn more, highlighting weak early </a:t>
            </a:r>
            <a:r>
              <a:rPr lang="en-US" dirty="0" smtClean="0"/>
              <a:t>retention. B</a:t>
            </a:r>
            <a:r>
              <a:rPr lang="en-US" dirty="0"/>
              <a:t>ut Fiber Optic churn remains high across all tenures</a:t>
            </a:r>
            <a:endParaRPr lang="en-US" dirty="0" smtClean="0"/>
          </a:p>
          <a:p>
            <a:r>
              <a:rPr lang="en-US" dirty="0" smtClean="0"/>
              <a:t>Demographic compositions are not significant </a:t>
            </a:r>
            <a:r>
              <a:rPr lang="en-US" dirty="0"/>
              <a:t>churn </a:t>
            </a:r>
            <a:r>
              <a:rPr lang="en-US" dirty="0" smtClean="0"/>
              <a:t>drivers, </a:t>
            </a:r>
            <a:r>
              <a:rPr lang="en-US" dirty="0"/>
              <a:t>but </a:t>
            </a:r>
            <a:r>
              <a:rPr lang="en-US" b="1" dirty="0"/>
              <a:t>contract type </a:t>
            </a:r>
            <a:r>
              <a:rPr lang="en-US" dirty="0"/>
              <a:t>and</a:t>
            </a:r>
            <a:r>
              <a:rPr lang="en-US" b="1" dirty="0"/>
              <a:t> service quality </a:t>
            </a:r>
            <a:r>
              <a:rPr lang="en-US" dirty="0" smtClean="0"/>
              <a:t>are decisive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328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Contract Strategy</a:t>
            </a:r>
            <a:r>
              <a:rPr lang="en-US" b="1" dirty="0"/>
              <a:t>:</a:t>
            </a:r>
            <a:r>
              <a:rPr lang="en-US" dirty="0"/>
              <a:t> Incentivize long-term </a:t>
            </a:r>
            <a:r>
              <a:rPr lang="en-US" dirty="0" smtClean="0"/>
              <a:t>contracts to reduce churn</a:t>
            </a:r>
          </a:p>
          <a:p>
            <a:r>
              <a:rPr lang="en-US" b="1" dirty="0" smtClean="0"/>
              <a:t>P</a:t>
            </a:r>
            <a:r>
              <a:rPr lang="en-US" altLang="en-US" b="1" dirty="0">
                <a:solidFill>
                  <a:schemeClr val="tx1"/>
                </a:solidFill>
              </a:rPr>
              <a:t>ricing Strategy:</a:t>
            </a:r>
            <a:r>
              <a:rPr lang="en-US" altLang="en-US" dirty="0">
                <a:solidFill>
                  <a:schemeClr val="tx1"/>
                </a:solidFill>
              </a:rPr>
              <a:t> Introduce loyalty discounts or bundles for high-charge </a:t>
            </a:r>
            <a:r>
              <a:rPr lang="en-US" altLang="en-US" dirty="0" smtClean="0">
                <a:solidFill>
                  <a:schemeClr val="tx1"/>
                </a:solidFill>
              </a:rPr>
              <a:t>customers</a:t>
            </a:r>
          </a:p>
          <a:p>
            <a:r>
              <a:rPr lang="en-US" altLang="en-US" b="1" dirty="0">
                <a:solidFill>
                  <a:schemeClr val="tx1"/>
                </a:solidFill>
              </a:rPr>
              <a:t>Service Quality:</a:t>
            </a:r>
            <a:r>
              <a:rPr lang="en-US" altLang="en-US" dirty="0">
                <a:solidFill>
                  <a:schemeClr val="tx1"/>
                </a:solidFill>
              </a:rPr>
              <a:t> Improve Fiber Optic reliability and customer </a:t>
            </a:r>
            <a:r>
              <a:rPr lang="en-US" altLang="en-US" dirty="0" smtClean="0">
                <a:solidFill>
                  <a:schemeClr val="tx1"/>
                </a:solidFill>
              </a:rPr>
              <a:t>support</a:t>
            </a:r>
          </a:p>
          <a:p>
            <a:r>
              <a:rPr lang="en-US" altLang="en-US" b="1" dirty="0">
                <a:solidFill>
                  <a:schemeClr val="tx1"/>
                </a:solidFill>
              </a:rPr>
              <a:t>Retention Programs:</a:t>
            </a:r>
            <a:r>
              <a:rPr lang="en-US" altLang="en-US" dirty="0">
                <a:solidFill>
                  <a:schemeClr val="tx1"/>
                </a:solidFill>
              </a:rPr>
              <a:t> Focus on onboarding and first-year engagement to extend tenure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573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analysis shows that </a:t>
            </a:r>
            <a:r>
              <a:rPr lang="en-US" b="1" dirty="0"/>
              <a:t>Fiber Optic customers, </a:t>
            </a:r>
            <a:r>
              <a:rPr lang="en-US" dirty="0"/>
              <a:t>especially on </a:t>
            </a:r>
            <a:r>
              <a:rPr lang="en-US" b="1" dirty="0"/>
              <a:t>month‑to‑month contracts </a:t>
            </a:r>
            <a:r>
              <a:rPr lang="en-US" dirty="0"/>
              <a:t>and</a:t>
            </a:r>
            <a:r>
              <a:rPr lang="en-US" b="1" dirty="0"/>
              <a:t> </a:t>
            </a:r>
            <a:r>
              <a:rPr lang="en-US" dirty="0"/>
              <a:t>with</a:t>
            </a:r>
            <a:r>
              <a:rPr lang="en-US" b="1" dirty="0"/>
              <a:t> shorter tenure, churn at the highest rates</a:t>
            </a:r>
            <a:r>
              <a:rPr lang="en-US" dirty="0"/>
              <a:t>. Combined with </a:t>
            </a:r>
            <a:r>
              <a:rPr lang="en-US" b="1" dirty="0"/>
              <a:t>price sensitivity</a:t>
            </a:r>
            <a:r>
              <a:rPr lang="en-US" dirty="0"/>
              <a:t> among high‑charge customers, this highlights that </a:t>
            </a:r>
            <a:r>
              <a:rPr lang="en-US" b="1" dirty="0"/>
              <a:t>service quality, contract structure, </a:t>
            </a:r>
            <a:r>
              <a:rPr lang="en-US" dirty="0"/>
              <a:t>and</a:t>
            </a:r>
            <a:r>
              <a:rPr lang="en-US" b="1" dirty="0"/>
              <a:t> early engagement </a:t>
            </a:r>
            <a:r>
              <a:rPr lang="en-US" dirty="0" smtClean="0"/>
              <a:t>are the </a:t>
            </a:r>
            <a:r>
              <a:rPr lang="en-US" b="1" dirty="0" smtClean="0"/>
              <a:t>key </a:t>
            </a:r>
            <a:r>
              <a:rPr lang="en-US" b="1" dirty="0"/>
              <a:t>levers for retention</a:t>
            </a:r>
            <a:r>
              <a:rPr lang="en-US" dirty="0"/>
              <a:t>. Addressing these areas will reduce churn, strengthen customer loyalty, and improve overall business performance</a:t>
            </a:r>
          </a:p>
        </p:txBody>
      </p:sp>
    </p:spTree>
    <p:extLst>
      <p:ext uri="{BB962C8B-B14F-4D97-AF65-F5344CB8AC3E}">
        <p14:creationId xmlns:p14="http://schemas.microsoft.com/office/powerpoint/2010/main" val="424911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13814" y="5194672"/>
            <a:ext cx="1745716" cy="697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2" descr="Thank You Papercut, Thank You Cut Files Graphic by assalwaassalwa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97" y="2612572"/>
            <a:ext cx="10148911" cy="170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0575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365</TotalTime>
  <Words>578</Words>
  <Application>Microsoft Office PowerPoint</Application>
  <PresentationFormat>Widescreen</PresentationFormat>
  <Paragraphs>69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Gill Sans MT</vt:lpstr>
      <vt:lpstr>Wingdings 2</vt:lpstr>
      <vt:lpstr>Dividend</vt:lpstr>
      <vt:lpstr>Customer Retention &amp; Churn Analysis</vt:lpstr>
      <vt:lpstr>introduction</vt:lpstr>
      <vt:lpstr>Dashboard overview</vt:lpstr>
      <vt:lpstr>analysis</vt:lpstr>
      <vt:lpstr>Monthly Charges by Churn</vt:lpstr>
      <vt:lpstr>Churn by Tenure</vt:lpstr>
      <vt:lpstr>Churn by Internet Service</vt:lpstr>
      <vt:lpstr>Customer Distribution by Gender</vt:lpstr>
      <vt:lpstr>Customer Distribution by Senior citizen rate%</vt:lpstr>
      <vt:lpstr>Decomposition Tree</vt:lpstr>
      <vt:lpstr>findings</vt:lpstr>
      <vt:lpstr>SUGGESTIONS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Retention &amp; Churn Analysis</dc:title>
  <dc:creator>HP</dc:creator>
  <cp:lastModifiedBy>HP</cp:lastModifiedBy>
  <cp:revision>19</cp:revision>
  <dcterms:created xsi:type="dcterms:W3CDTF">2026-05-02T10:34:02Z</dcterms:created>
  <dcterms:modified xsi:type="dcterms:W3CDTF">2026-05-18T12:04:14Z</dcterms:modified>
</cp:coreProperties>
</file>